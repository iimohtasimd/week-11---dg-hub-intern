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0822de2-ecf3-9f70-a8dc-2e2d2a5addd2}">
          <p14:sldIdLst>
            <p14:sldId id="256"/>
            <p14:sldId id="257"/>
          </p14:sldIdLst>
        </p14:section>
        <p14:section name="SOC concepts" id="{54752dcc-0381-a1d4-20ed-c0e0da70e11e}">
          <p14:sldIdLst>
            <p14:sldId id="258"/>
            <p14:sldId id="259"/>
          </p14:sldIdLst>
        </p14:section>
        <p14:section name="Monitoring" id="{2fdf30b9-f91d-55ad-daee-871177602960}">
          <p14:sldIdLst>
            <p14:sldId id="260"/>
          </p14:sldIdLst>
        </p14:section>
        <p14:section name="Comparison" id="{29a1a5b8-736f-563f-f623-0d2e62e6a724}">
          <p14:sldIdLst>
            <p14:sldId id="261"/>
          </p14:sldIdLst>
        </p14:section>
        <p14:section name="Investigation" id="{e84f40ff-7d1e-2f70-4b68-193b210c8c83}">
          <p14:sldIdLst>
            <p14:sldId id="262"/>
            <p14:sldId id="263"/>
          </p14:sldIdLst>
        </p14:section>
        <p14:section name="Classification" id="{36da0604-c605-f70b-ecca-cb7a31847097}">
          <p14:sldIdLst>
            <p14:sldId id="264"/>
          </p14:sldIdLst>
        </p14:section>
        <p14:section name="Response" id="{912a8dc9-481f-5e79-ee53-5733c88e7080}">
          <p14:sldIdLst>
            <p14:sldId id="265"/>
            <p14:sldId id="266"/>
          </p14:sldIdLst>
        </p14:section>
        <p14:section name="Wrap-up" id="{8dab24a4-286d-0800-0a30-c2997b5eed7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F1B2D"/>
                </a:solidFill>
                <a:latin typeface="+mn-lt"/>
              </a:rPr>
              <a:t>Alerts by severity (15 total)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0F1B2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7D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3C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5CA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Informational</c:v>
                  </c:pt>
                  <c:pt idx="1">
                    <c:v>Low</c:v>
                  </c:pt>
                  <c:pt idx="2">
                    <c:v>Medium</c:v>
                  </c:pt>
                  <c:pt idx="3">
                    <c:v>High</c:v>
                  </c:pt>
                  <c:pt idx="4">
                    <c:v>Critical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5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0F1B2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B2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6350" cap="flat">
              <a:solidFill>
                <a:srgbClr val="D5DD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11 builds on the Week 9 Snort sensor and the Week 10 Wazuh SIEM. The same private lab is reused; every event was generated deliberately by the author on machines the author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9 produced a network sensor (Snort), Week 10 added a SIEM (Wazuh). Week 11 reads alerts from both together, decides which are real, rates severity, extracts IOCs and writes the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 links alerts that share a source IP, user, host, rule family or time window. Why analysts correlate: context (a sequence shows intent), fewer false positives (two independent sources agree), prioritisation, coverage (network and host sensors have blind spots) and a timeline for the ticket. Wazuh frequency rule 5763 turns many 5760 failures into one brute-force alert; the analyst does the rest by pivoting across tools. IOC examples: IP address, domain, file hash or path, account, port and protocol, rule or signature, timestamp.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alert caused by the analyst's own authorised test is still a technically correct detection. It is labelled true positive, authorised test, so tuning does not wrongly remove a good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Wazuh 4.14.8 all-in-one server (manager, indexer, dashboard) with an Ubuntu agent. Last 24 hours: 0 critical, 0 high, 50 medium, 73 low. Manager active, uptime 2d 4h 32m, wazuh-manager and wazuh-indexer active. Rule IDs and levels are Wazuh defaults; the dashboard values take precedence. Events 1 to 7 are one story told by seven rules: guessing, success and privilege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Snort runs as a passive network IDS (afpacket DAQ, 300 patterns loaded). Custom rule SID 1:1000001 raises CUSTOM ICMP Ping Detected for each ICMP echo, priority 0. Snort says what crossed the wire, not who logged in or what changed on a host. Port scan for Wazuh is conditional: it sees a scan only if the host logs connections or a Snort/firewall log is forwarded to the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Timeline: 1) first failed SSH password (5760/5710); 2) failure threshold crossed, brute-force alert 5763; 3) successful SSH authentication 5715; 4) PAM session opened 5501; 5) sudo to root 5402; 6) analyst pivots on the source IP, confirms no Snort alert and opens DG-SOC-001. The exact time of the first failure and the failure count are still placeholders [ hh:mm:ss ] and [ n ] in the source report. Source: Kali 192.168.56.1 (masked in screenshots).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masked in the screenshots are shown as lab ranges or placeholders. MITRE ATT&amp;CK mapping for the Wazuh rules: T1110 Brute 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Classified by impact, context and evidence. Informational: system restart; agent reconnected. Low: ping/ICMP (1:1000001); agent disconnected. Medium: port scan; failed sudo; config file changed; DNS query for unknown domain; new user created. High: multiple failed logins (5710/5760); SSH brute force (5763); successful login after failed burst; /etc/passwd changed. Critical: malware detected; network connection to known C2. Reasons: restart and reconnect are expected; ping is routine diagnostics; port scan is reconnaissance; failed sudo may be a typo; config and user changes may be persistence; unknown DNS may be C2 or phishing; failure bursts and brute force are unauthorised access attempts; a login after failures means the account is compromised until verified; /etc/passwd change is typical persistence; malware and C2 need immediate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Seven-stage lifecycle applied to repeated SSH failures followed by a successful root login. Preparation: SOC roles, Wazuh agents on critical hosts, Snort on the network path, asset list, written playbooks, tested backups. Containment: Wazuh active response was left disabled in the lab, so the block is done at the host or network firewall. Ticket date/time of the first alert is a placeholder in the source report; current status is Investigating.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Playbook 1 Multiple failed logins: detect 5710/5760/5763; investigate auth.log and all alerts from the same source; verify whether a success (5715) followed, confirm with the asset owner, check threat intelligence; contain by blocking the IP, locking or resetting the account, ending sessions, preserving evidence; escalate to L2 if a success followed, a privileged account was targeted or the source is external. Playbook 2 Port scan: record source, targets, ports, duration; check against the approved scan schedule; look for follow-up activity; authorised means close as informational, otherwise block, close unneeded ports, escalate on exploitation. Playbook 3 Suspicious file or system change: record path, old and new hash, owner and time; find the user and process and compare with change tickets; check persistence; authorised means document and close, otherwise preserve a copy, restore from baseline, remove persistence, reset credentials, escalate.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Limitations: single-person lab (attacker, sensor and administrator are the same person), default rule set and a small, deliberately generated sample, and masked IP addresses and timestamps shown as placeholders. Further recommendations: tune noisy rules such as the ping rule with thresholds; keep the asset list and playbooks current; move Snort to its own VM, separate from the traffic source. Useful Wazuh filters: data.srcip: 192.168.56.1; rule.id: 5763; rule.groups: authentication_failed; rule.groups: ids; agent.name: &lt;agent name&gt;.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DG Interns Hub • Week 11 — SOC Threat Detection, Alert Correlation &amp; Incident Response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2296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DG INTERNS HUB  •  CYBER SECURITY INTERNSHIP</a:t>
            </a:r>
            <a:endParaRPr lang="en-US" sz="1400" dirty="0"/>
          </a:p>
        </p:txBody>
      </p:sp>
      <p:sp>
        <p:nvSpPr>
          <p:cNvPr id="3" name="Week label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Week 11</a:t>
            </a:r>
            <a:endParaRPr lang="en-US" sz="2800" dirty="0"/>
          </a:p>
        </p:txBody>
      </p:sp>
      <p:sp>
        <p:nvSpPr>
          <p:cNvPr id="4" name="Deck title"/>
          <p:cNvSpPr txBox="1"/>
          <p:nvPr/>
        </p:nvSpPr>
        <p:spPr>
          <a:xfrm>
            <a:off x="822960" y="228600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Threat Detection, Alert Correlation &amp; Incident Response</a:t>
            </a:r>
            <a:endParaRPr lang="en-US" sz="4400" dirty="0"/>
          </a:p>
        </p:txBody>
      </p:sp>
      <p:sp>
        <p:nvSpPr>
          <p:cNvPr id="5" name="Subtitle"/>
          <p:cNvSpPr txBox="1"/>
          <p:nvPr/>
        </p:nvSpPr>
        <p:spPr>
          <a:xfrm>
            <a:off x="822960" y="4114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Correlating Wazuh and Snort alerts, investigating a failed-login incident, classifying alerts and preparing the response</a:t>
            </a:r>
            <a:endParaRPr lang="en-US" sz="1800" dirty="0"/>
          </a:p>
        </p:txBody>
      </p:sp>
      <p:sp>
        <p:nvSpPr>
          <p:cNvPr id="6" name="Candidate"/>
          <p:cNvSpPr txBox="1"/>
          <p:nvPr/>
        </p:nvSpPr>
        <p:spPr>
          <a:xfrm>
            <a:off x="822960" y="5486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Md Mohtasim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DG/JULY/CYBER/017  •  Submission deadline 21-10-2026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running the tools to working like a SOC analyst</a:t>
            </a:r>
            <a:endParaRPr lang="en-US" sz="3200" dirty="0"/>
          </a:p>
        </p:txBody>
      </p:sp>
      <p:sp>
        <p:nvSpPr>
          <p:cNvPr id="4" name="Objective card 1"/>
          <p:cNvSpPr/>
          <p:nvPr/>
        </p:nvSpPr>
        <p:spPr>
          <a:xfrm>
            <a:off x="548640" y="1371600"/>
            <a:ext cx="6766560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Number 2"/>
          <p:cNvSpPr txBox="1"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37160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Explain alert correlation, true and false positives, IOCs and the L1/L2/L3 roles</a:t>
            </a:r>
            <a:endParaRPr lang="en-US" sz="1500" dirty="0"/>
          </a:p>
        </p:txBody>
      </p:sp>
      <p:sp>
        <p:nvSpPr>
          <p:cNvPr id="7" name="Objective card 4"/>
          <p:cNvSpPr/>
          <p:nvPr/>
        </p:nvSpPr>
        <p:spPr>
          <a:xfrm>
            <a:off x="548640" y="2322576"/>
            <a:ext cx="6766560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Number 5"/>
          <p:cNvSpPr txBox="1"/>
          <p:nvPr/>
        </p:nvSpPr>
        <p:spPr>
          <a:xfrm>
            <a:off x="731520" y="25054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322576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Monitor Wazuh for authentication, file, system and agent events (at least ten)</a:t>
            </a:r>
            <a:endParaRPr lang="en-US" sz="1500" dirty="0"/>
          </a:p>
        </p:txBody>
      </p:sp>
      <p:sp>
        <p:nvSpPr>
          <p:cNvPr id="10" name="Objective card 7"/>
          <p:cNvSpPr/>
          <p:nvPr/>
        </p:nvSpPr>
        <p:spPr>
          <a:xfrm>
            <a:off x="548640" y="3273552"/>
            <a:ext cx="6766560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Number 8"/>
          <p:cNvSpPr txBox="1"/>
          <p:nvPr/>
        </p:nvSpPr>
        <p:spPr>
          <a:xfrm>
            <a:off x="731520" y="34564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273552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Compare what Snort and Wazuh detect for the same activity, and why</a:t>
            </a:r>
            <a:endParaRPr lang="en-US" sz="1500" dirty="0"/>
          </a:p>
        </p:txBody>
      </p:sp>
      <p:sp>
        <p:nvSpPr>
          <p:cNvPr id="13" name="Objective card 10"/>
          <p:cNvSpPr/>
          <p:nvPr/>
        </p:nvSpPr>
        <p:spPr>
          <a:xfrm>
            <a:off x="548640" y="4224528"/>
            <a:ext cx="6766560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Number 11"/>
          <p:cNvSpPr txBox="1"/>
          <p:nvPr/>
        </p:nvSpPr>
        <p:spPr>
          <a:xfrm>
            <a:off x="731520" y="44074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42245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Investigate one incident end to end, extract its IOCs, classify 15 alerts</a:t>
            </a:r>
            <a:endParaRPr lang="en-US" sz="1500" dirty="0"/>
          </a:p>
        </p:txBody>
      </p:sp>
      <p:sp>
        <p:nvSpPr>
          <p:cNvPr id="16" name="Objective card 13"/>
          <p:cNvSpPr/>
          <p:nvPr/>
        </p:nvSpPr>
        <p:spPr>
          <a:xfrm>
            <a:off x="548640" y="5175504"/>
            <a:ext cx="6766560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Number 14"/>
          <p:cNvSpPr txBox="1"/>
          <p:nvPr/>
        </p:nvSpPr>
        <p:spPr>
          <a:xfrm>
            <a:off x="731520" y="5358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5175504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an incident response procedure, ticket DG-SOC-001 and three playbooks</a:t>
            </a:r>
            <a:endParaRPr lang="en-US" sz="1500" dirty="0"/>
          </a:p>
        </p:txBody>
      </p:sp>
      <p:sp>
        <p:nvSpPr>
          <p:cNvPr id="19" name="Lab panel 16"/>
          <p:cNvSpPr/>
          <p:nvPr/>
        </p:nvSpPr>
        <p:spPr>
          <a:xfrm>
            <a:off x="7680960" y="1371600"/>
            <a:ext cx="3959352" cy="4663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0100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THE LAB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Environment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001000" y="2331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VirtualBox, host-only network 192.168.56.0/24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001000" y="3044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Endpoint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33192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Ubuntu with Wazuh agent (ubuntu-agent)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001000" y="4032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Tools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43068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Wazuh 4.14.8, Snort, OpenSSH, Wazuh FIM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5020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Scope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001000" y="52943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Only machines the author controls; nothing aimed at any third party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Alert correlation turns separate events into one story</a:t>
            </a:r>
            <a:endParaRPr lang="en-US" sz="3200" dirty="0"/>
          </a:p>
        </p:txBody>
      </p:sp>
      <p:sp>
        <p:nvSpPr>
          <p:cNvPr id="4" name="Statement panel 26"/>
          <p:cNvSpPr/>
          <p:nvPr/>
        </p:nvSpPr>
        <p:spPr>
          <a:xfrm>
            <a:off x="548640" y="1325880"/>
            <a:ext cx="11091672" cy="1097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Text 27"/>
          <p:cNvSpPr txBox="1"/>
          <p:nvPr/>
        </p:nvSpPr>
        <p:spPr>
          <a:xfrm>
            <a:off x="868680" y="13258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failed login is noise. </a:t>
            </a:r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failures in two minutes, then a success for the same account, is an attack narrative.</a:t>
            </a:r>
            <a:endParaRPr lang="en-US" sz="2200" dirty="0"/>
          </a:p>
        </p:txBody>
      </p:sp>
      <p:sp>
        <p:nvSpPr>
          <p:cNvPr id="6" name="Definition card 28"/>
          <p:cNvSpPr/>
          <p:nvPr/>
        </p:nvSpPr>
        <p:spPr>
          <a:xfrm>
            <a:off x="548640" y="2651760"/>
            <a:ext cx="3593592" cy="2148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Marker 29"/>
          <p:cNvSpPr/>
          <p:nvPr/>
        </p:nvSpPr>
        <p:spPr>
          <a:xfrm>
            <a:off x="777240" y="2834640"/>
            <a:ext cx="384048" cy="38404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8" name="Text 30"/>
          <p:cNvSpPr txBox="1"/>
          <p:nvPr/>
        </p:nvSpPr>
        <p:spPr>
          <a:xfrm>
            <a:off x="1325880" y="2834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</a:t>
            </a:r>
            <a:endParaRPr lang="en-US" sz="2200" dirty="0"/>
          </a:p>
        </p:txBody>
      </p:sp>
      <p:sp>
        <p:nvSpPr>
          <p:cNvPr id="9" name="Text 31"/>
          <p:cNvSpPr txBox="1"/>
          <p:nvPr/>
        </p:nvSpPr>
        <p:spPr>
          <a:xfrm>
            <a:off x="777240" y="3383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 recorded occurrence in a system or network. Most are routine.</a:t>
            </a:r>
            <a:endParaRPr lang="en-US" sz="1400" dirty="0"/>
          </a:p>
        </p:txBody>
      </p:sp>
      <p:sp>
        <p:nvSpPr>
          <p:cNvPr id="10" name="Text 32"/>
          <p:cNvSpPr txBox="1"/>
          <p:nvPr/>
        </p:nvSpPr>
        <p:spPr>
          <a:xfrm>
            <a:off x="777240" y="40690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Example: </a:t>
            </a:r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A line in auth.log: "Failed password for root"</a:t>
            </a:r>
            <a:endParaRPr lang="en-US" sz="1300" dirty="0"/>
          </a:p>
        </p:txBody>
      </p:sp>
      <p:sp>
        <p:nvSpPr>
          <p:cNvPr id="11" name="Definition card 33"/>
          <p:cNvSpPr/>
          <p:nvPr/>
        </p:nvSpPr>
        <p:spPr>
          <a:xfrm>
            <a:off x="4297680" y="2651760"/>
            <a:ext cx="3593592" cy="2148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Marker 34"/>
          <p:cNvSpPr/>
          <p:nvPr/>
        </p:nvSpPr>
        <p:spPr>
          <a:xfrm>
            <a:off x="4526280" y="28346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35"/>
          <p:cNvSpPr txBox="1"/>
          <p:nvPr/>
        </p:nvSpPr>
        <p:spPr>
          <a:xfrm>
            <a:off x="5074920" y="2834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2200" dirty="0"/>
          </a:p>
        </p:txBody>
      </p:sp>
      <p:sp>
        <p:nvSpPr>
          <p:cNvPr id="14" name="Text 36"/>
          <p:cNvSpPr txBox="1"/>
          <p:nvPr/>
        </p:nvSpPr>
        <p:spPr>
          <a:xfrm>
            <a:off x="4526280" y="3383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event (or group) that matched a detection rule and was flagged.</a:t>
            </a:r>
            <a:endParaRPr lang="en-US" sz="1400" dirty="0"/>
          </a:p>
        </p:txBody>
      </p:sp>
      <p:sp>
        <p:nvSpPr>
          <p:cNvPr id="15" name="Text 37"/>
          <p:cNvSpPr txBox="1"/>
          <p:nvPr/>
        </p:nvSpPr>
        <p:spPr>
          <a:xfrm>
            <a:off x="4526280" y="40690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Example: </a:t>
            </a:r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Wazuh rule 5710 level 5, or Snort SID 1:1000001</a:t>
            </a:r>
            <a:endParaRPr lang="en-US" sz="1300" dirty="0"/>
          </a:p>
        </p:txBody>
      </p:sp>
      <p:sp>
        <p:nvSpPr>
          <p:cNvPr id="16" name="Definition card 38"/>
          <p:cNvSpPr/>
          <p:nvPr/>
        </p:nvSpPr>
        <p:spPr>
          <a:xfrm>
            <a:off x="8046720" y="2651760"/>
            <a:ext cx="3593592" cy="2148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Marker 39"/>
          <p:cNvSpPr/>
          <p:nvPr/>
        </p:nvSpPr>
        <p:spPr>
          <a:xfrm>
            <a:off x="8275320" y="283464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40"/>
          <p:cNvSpPr txBox="1"/>
          <p:nvPr/>
        </p:nvSpPr>
        <p:spPr>
          <a:xfrm>
            <a:off x="8823960" y="2834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</a:t>
            </a:r>
            <a:endParaRPr lang="en-US" sz="2200" dirty="0"/>
          </a:p>
        </p:txBody>
      </p:sp>
      <p:sp>
        <p:nvSpPr>
          <p:cNvPr id="19" name="Text 41"/>
          <p:cNvSpPr txBox="1"/>
          <p:nvPr/>
        </p:nvSpPr>
        <p:spPr>
          <a:xfrm>
            <a:off x="8275320" y="3383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Confirmed alerts that violate security policy and need a response.</a:t>
            </a:r>
            <a:endParaRPr lang="en-US" sz="1400" dirty="0"/>
          </a:p>
        </p:txBody>
      </p:sp>
      <p:sp>
        <p:nvSpPr>
          <p:cNvPr id="20" name="Text 42"/>
          <p:cNvSpPr txBox="1"/>
          <p:nvPr/>
        </p:nvSpPr>
        <p:spPr>
          <a:xfrm>
            <a:off x="8275320" y="40690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Example: </a:t>
            </a:r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DG-SOC-001: repeated failures, then a successful root login</a:t>
            </a:r>
            <a:endParaRPr lang="en-US" sz="1300" dirty="0"/>
          </a:p>
        </p:txBody>
      </p:sp>
      <p:sp>
        <p:nvSpPr>
          <p:cNvPr id="21" name="IOC card 43"/>
          <p:cNvSpPr/>
          <p:nvPr/>
        </p:nvSpPr>
        <p:spPr>
          <a:xfrm>
            <a:off x="548640" y="5029200"/>
            <a:ext cx="5440680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Text 44"/>
          <p:cNvSpPr txBox="1"/>
          <p:nvPr/>
        </p:nvSpPr>
        <p:spPr>
          <a:xfrm>
            <a:off x="777240" y="50292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IOC (indicator of compromise)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 observable artefact showing a system is being attacked: IP, domain, file, account, port, rule fired, timestamp. IOCs let the SOC search other systems and block it.</a:t>
            </a:r>
            <a:endParaRPr lang="en-US" sz="1300" dirty="0"/>
          </a:p>
        </p:txBody>
      </p:sp>
      <p:sp>
        <p:nvSpPr>
          <p:cNvPr id="23" name="Detection vs response card 45"/>
          <p:cNvSpPr/>
          <p:nvPr/>
        </p:nvSpPr>
        <p:spPr>
          <a:xfrm>
            <a:off x="6199632" y="5029200"/>
            <a:ext cx="5440680" cy="11887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4" name="Text 46"/>
          <p:cNvSpPr txBox="1"/>
          <p:nvPr/>
        </p:nvSpPr>
        <p:spPr>
          <a:xfrm>
            <a:off x="6446520" y="502920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Detection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asks "is something wrong?". 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Response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asks "what do we do about it?". Both share evidence, so the ticket records both.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True and false positives, and who does what</a:t>
            </a:r>
            <a:endParaRPr lang="en-US" sz="3200" dirty="0"/>
          </a:p>
        </p:txBody>
      </p:sp>
      <p:sp>
        <p:nvSpPr>
          <p:cNvPr id="4" name="Text 47"/>
          <p:cNvSpPr txBox="1"/>
          <p:nvPr/>
        </p:nvSpPr>
        <p:spPr>
          <a:xfrm>
            <a:off x="5486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ALERT OUTCOMES</a:t>
            </a:r>
            <a:endParaRPr lang="en-US" sz="1200" dirty="0"/>
          </a:p>
        </p:txBody>
      </p:sp>
      <p:graphicFrame>
        <p:nvGraphicFramePr>
          <p:cNvPr id="5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40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Term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Example in this lab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True positive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Rule 5763 after repeated wrong-password SSH attempts that were really made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False positive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Snort ICMP rule on a normal ping; a user mistyping a password twice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False negative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Snort silent on SSH guessing: no Snort rule covers port 22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True negative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alert and nothing happened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Note 49"/>
          <p:cNvSpPr/>
          <p:nvPr/>
        </p:nvSpPr>
        <p:spPr>
          <a:xfrm>
            <a:off x="548640" y="5257800"/>
            <a:ext cx="539496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0"/>
          <p:cNvSpPr txBox="1"/>
          <p:nvPr/>
        </p:nvSpPr>
        <p:spPr>
          <a:xfrm>
            <a:off x="777240" y="5257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Authorised test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Still a correct detection: labelled "true positive — authorised test" so a good rule is not tuned away.</a:t>
            </a:r>
            <a:endParaRPr lang="en-US" sz="1300" dirty="0"/>
          </a:p>
        </p:txBody>
      </p:sp>
      <p:sp>
        <p:nvSpPr>
          <p:cNvPr id="8" name="Text 51"/>
          <p:cNvSpPr txBox="1"/>
          <p:nvPr/>
        </p:nvSpPr>
        <p:spPr>
          <a:xfrm>
            <a:off x="6245352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ANALYST ROLES</a:t>
            </a:r>
            <a:endParaRPr lang="en-US" sz="1200" dirty="0"/>
          </a:p>
        </p:txBody>
      </p:sp>
      <p:graphicFrame>
        <p:nvGraphicFramePr>
          <p:cNvPr id="9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14884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Level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Responsibility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 this incident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L1 Triage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Validate alerts, remove obvious false positives, open tickets, escalate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Saw 5710/5763, checked the asset list, opened DG-SOC-001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L2 Investigation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Correlate across tools, scope, advise containment, extract IOCs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Searched the source IP, found the login, recommended block and reset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L3 Hunting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Hunting, forensics, detection engineering, major-incident lead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Would write SSH rules for Snort and Wazuh, hunt other hosts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Wazuh monitoring: ten events, no critical or high alerts</a:t>
            </a:r>
            <a:endParaRPr lang="en-US" sz="3200" dirty="0"/>
          </a:p>
        </p:txBody>
      </p:sp>
      <p:sp>
        <p:nvSpPr>
          <p:cNvPr id="4" name="Stat card 53"/>
          <p:cNvSpPr/>
          <p:nvPr/>
        </p:nvSpPr>
        <p:spPr>
          <a:xfrm>
            <a:off x="548640" y="1280160"/>
            <a:ext cx="1783080" cy="9601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5" name="Text 54"/>
          <p:cNvSpPr txBox="1"/>
          <p:nvPr/>
        </p:nvSpPr>
        <p:spPr>
          <a:xfrm>
            <a:off x="548640" y="1280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6" name="Text 55"/>
          <p:cNvSpPr txBox="1"/>
          <p:nvPr/>
        </p:nvSpPr>
        <p:spPr>
          <a:xfrm>
            <a:off x="54864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Critical</a:t>
            </a:r>
            <a:endParaRPr lang="en-US" sz="1300" dirty="0"/>
          </a:p>
        </p:txBody>
      </p:sp>
      <p:sp>
        <p:nvSpPr>
          <p:cNvPr id="7" name="Stat card 56"/>
          <p:cNvSpPr/>
          <p:nvPr/>
        </p:nvSpPr>
        <p:spPr>
          <a:xfrm>
            <a:off x="2423160" y="1280160"/>
            <a:ext cx="1783080" cy="9601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Text 57"/>
          <p:cNvSpPr txBox="1"/>
          <p:nvPr/>
        </p:nvSpPr>
        <p:spPr>
          <a:xfrm>
            <a:off x="2423160" y="1280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58"/>
          <p:cNvSpPr txBox="1"/>
          <p:nvPr/>
        </p:nvSpPr>
        <p:spPr>
          <a:xfrm>
            <a:off x="242316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High</a:t>
            </a:r>
            <a:endParaRPr lang="en-US" sz="1300" dirty="0"/>
          </a:p>
        </p:txBody>
      </p:sp>
      <p:sp>
        <p:nvSpPr>
          <p:cNvPr id="10" name="Stat card 59"/>
          <p:cNvSpPr/>
          <p:nvPr/>
        </p:nvSpPr>
        <p:spPr>
          <a:xfrm>
            <a:off x="4297680" y="1280160"/>
            <a:ext cx="1783080" cy="9601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Text 60"/>
          <p:cNvSpPr txBox="1"/>
          <p:nvPr/>
        </p:nvSpPr>
        <p:spPr>
          <a:xfrm>
            <a:off x="4297680" y="1280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400" dirty="0"/>
          </a:p>
        </p:txBody>
      </p:sp>
      <p:sp>
        <p:nvSpPr>
          <p:cNvPr id="12" name="Text 61"/>
          <p:cNvSpPr txBox="1"/>
          <p:nvPr/>
        </p:nvSpPr>
        <p:spPr>
          <a:xfrm>
            <a:off x="429768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Medium</a:t>
            </a:r>
            <a:endParaRPr lang="en-US" sz="1300" dirty="0"/>
          </a:p>
        </p:txBody>
      </p:sp>
      <p:sp>
        <p:nvSpPr>
          <p:cNvPr id="13" name="Stat card 62"/>
          <p:cNvSpPr/>
          <p:nvPr/>
        </p:nvSpPr>
        <p:spPr>
          <a:xfrm>
            <a:off x="6172200" y="1280160"/>
            <a:ext cx="1783080" cy="9601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4" name="Text 63"/>
          <p:cNvSpPr txBox="1"/>
          <p:nvPr/>
        </p:nvSpPr>
        <p:spPr>
          <a:xfrm>
            <a:off x="6172200" y="1280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3400" dirty="0"/>
          </a:p>
        </p:txBody>
      </p:sp>
      <p:sp>
        <p:nvSpPr>
          <p:cNvPr id="15" name="Text 64"/>
          <p:cNvSpPr txBox="1"/>
          <p:nvPr/>
        </p:nvSpPr>
        <p:spPr>
          <a:xfrm>
            <a:off x="6172200" y="1874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Low</a:t>
            </a:r>
            <a:endParaRPr lang="en-US" sz="1300" dirty="0"/>
          </a:p>
        </p:txBody>
      </p:sp>
      <p:sp>
        <p:nvSpPr>
          <p:cNvPr id="16" name="Manager card 65"/>
          <p:cNvSpPr/>
          <p:nvPr/>
        </p:nvSpPr>
        <p:spPr>
          <a:xfrm>
            <a:off x="8092440" y="1280160"/>
            <a:ext cx="3547872" cy="9601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7" name="Text 66"/>
          <p:cNvSpPr txBox="1"/>
          <p:nvPr/>
        </p:nvSpPr>
        <p:spPr>
          <a:xfrm>
            <a:off x="8321040" y="12801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Manager Active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v4.14.8  •  uptime 2d 4h 32m</a:t>
            </a:r>
            <a:endParaRPr lang="en-US" sz="1400" dirty="0"/>
          </a:p>
        </p:txBody>
      </p:sp>
      <p:graphicFrame>
        <p:nvGraphicFramePr>
          <p:cNvPr id="6" name="Table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737360"/>
                <a:gridCol w="4937760"/>
                <a:gridCol w="822960"/>
                <a:gridCol w="822960"/>
                <a:gridCol w="2267712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Event / description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Level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Authentication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Login attempt with a non-existent user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5710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auth.log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Failed login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Authentication failed (valid user, wrong password)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5760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auth.log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Failed login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Failed authentication for user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5711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auth.log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Brute force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Many failures from one source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5763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auth.log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Successful login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sshd: authentication success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5715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auth.log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System event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PAM: login session opened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5501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auth.log (PAM)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Privilege use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Successful sudo to ROOT executed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5402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auth.log (sudo)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File change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File added (monitored folder)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554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syscheck (FIM)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File change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Integrity checksum changed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550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syscheck (FIM)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Agent / system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Manager, indexer active; agent reporting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Manager status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Snort vs Wazuh: the same activity, two views</a:t>
            </a:r>
            <a:endParaRPr lang="en-US" sz="3200" dirty="0"/>
          </a:p>
        </p:txBody>
      </p:sp>
      <p:graphicFrame>
        <p:nvGraphicFramePr>
          <p:cNvPr id="7" name="Table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914400"/>
                <a:gridCol w="109728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Event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Snort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Wazuh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Severity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Finding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Ping (ICMP)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Low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Normal activity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Port scan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✓ / —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Investigate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Login failure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Authentication event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File change (monitored)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 FIM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Check if authorised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Login after failures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Escalate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nort facts 69"/>
          <p:cNvSpPr/>
          <p:nvPr/>
        </p:nvSpPr>
        <p:spPr>
          <a:xfrm>
            <a:off x="548640" y="5212080"/>
            <a:ext cx="6949440" cy="9601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" name="Text 70"/>
          <p:cNvSpPr txBox="1"/>
          <p:nvPr/>
        </p:nvSpPr>
        <p:spPr>
          <a:xfrm>
            <a:off x="777240" y="521208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Snort console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Passive IDS, 300 patterns, rule 1:1000001 "CUSTOM ICMP Ping Detected", priority 0, ICMP.</a:t>
            </a:r>
            <a:endParaRPr lang="en-US" sz="1300" dirty="0"/>
          </a:p>
        </p:txBody>
      </p:sp>
      <p:sp>
        <p:nvSpPr>
          <p:cNvPr id="7" name="Why panel 71"/>
          <p:cNvSpPr/>
          <p:nvPr/>
        </p:nvSpPr>
        <p:spPr>
          <a:xfrm>
            <a:off x="7772400" y="1371600"/>
            <a:ext cx="3867912" cy="4800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72"/>
          <p:cNvSpPr txBox="1"/>
          <p:nvPr/>
        </p:nvSpPr>
        <p:spPr>
          <a:xfrm>
            <a:off x="804672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WHY THEY DIFFER</a:t>
            </a:r>
            <a:endParaRPr lang="en-US" sz="1200" dirty="0"/>
          </a:p>
        </p:txBody>
      </p:sp>
      <p:sp>
        <p:nvSpPr>
          <p:cNvPr id="9" name="Text 73"/>
          <p:cNvSpPr txBox="1"/>
          <p:nvPr/>
        </p:nvSpPr>
        <p:spPr>
          <a:xfrm>
            <a:off x="8046720" y="196596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Vantage point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Snort reads packets; Wazuh reads host logs and files.</a:t>
            </a:r>
            <a:endParaRPr lang="en-US" sz="1500" dirty="0"/>
          </a:p>
        </p:txBody>
      </p:sp>
      <p:sp>
        <p:nvSpPr>
          <p:cNvPr id="10" name="Text 74"/>
          <p:cNvSpPr txBox="1"/>
          <p:nvPr/>
        </p:nvSpPr>
        <p:spPr>
          <a:xfrm>
            <a:off x="8046720" y="299008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Rules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Week 9 rules cover ICMP and HTTP only; Wazuh has SSH rules.</a:t>
            </a:r>
            <a:endParaRPr lang="en-US" sz="1500" dirty="0"/>
          </a:p>
        </p:txBody>
      </p:sp>
      <p:sp>
        <p:nvSpPr>
          <p:cNvPr id="11" name="Text 75"/>
          <p:cNvSpPr txBox="1"/>
          <p:nvPr/>
        </p:nvSpPr>
        <p:spPr>
          <a:xfrm>
            <a:off x="8046720" y="4014216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Encryption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Snort cannot read an SSH failure; the host knows the result.</a:t>
            </a:r>
            <a:endParaRPr lang="en-US" sz="1500" dirty="0"/>
          </a:p>
        </p:txBody>
      </p:sp>
      <p:sp>
        <p:nvSpPr>
          <p:cNvPr id="12" name="Text 76"/>
          <p:cNvSpPr txBox="1"/>
          <p:nvPr/>
        </p:nvSpPr>
        <p:spPr>
          <a:xfrm>
            <a:off x="8046720" y="5038344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State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Wazuh counts failures over time; Snort sees packets alone.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Investigation: failures, then a success, then sudo to root</a:t>
            </a:r>
            <a:endParaRPr lang="en-US" sz="3200" dirty="0"/>
          </a:p>
        </p:txBody>
      </p:sp>
      <p:graphicFrame>
        <p:nvGraphicFramePr>
          <p:cNvPr id="8" name="Table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Question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Finding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When did it start?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First failed SSH password (rules 5760 / 5710), at [ hh:mm:ss ]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Which account?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root, and standard user "ubuntu-wui"; the ticket records root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Source IP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Lab attacker host, Kali 192.168.56.1 (masked in screenshots)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Failed attempts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 n ] in the window; rule 5763 threshold is eight in two minutes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Successful login?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Yes: "Successful authentication" and "User logged in" followed the failures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After login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PAM session (5501), sudo to root (5402); no malware, no unexpected file changes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Rules / Snort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5710 / 5760 / 5711, 5763, 5715. Snort: no related alert (false negative)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Verdict 78"/>
          <p:cNvSpPr/>
          <p:nvPr/>
        </p:nvSpPr>
        <p:spPr>
          <a:xfrm>
            <a:off x="548640" y="5212080"/>
            <a:ext cx="11091672" cy="10058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" name="Text 79"/>
          <p:cNvSpPr txBox="1"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VERDICT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sequence is the pattern of a successful password-guessing attack, so High severity until the source is confirmed. The source is the author's own lab host: true positive, authorised test.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Indicators of compromise extracted from DG-SOC-001</a:t>
            </a:r>
            <a:endParaRPr lang="en-US" sz="3200" dirty="0"/>
          </a:p>
        </p:txBody>
      </p:sp>
      <p:graphicFrame>
        <p:nvGraphicFramePr>
          <p:cNvPr id="9" name="Table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754880"/>
                <a:gridCol w="45079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Indicator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Value (this incident)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 it matters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IP address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Source 192.168.56.1 (Kali) → target Ubuntu endpoint 192.168.56.40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Who attacked what; search other logs, block the source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Username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root (also "ubuntu-wui" in failed-auth events)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Which account was targeted; drives the password reset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File / path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/etc/shadow, /etc/passwd, ~/.ssh/authorized_keys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Where an attacker steals hashes or persists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Domain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 observed (internal lab traffic only)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Absence supports "no data exfiltration seen"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Port / protocol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 (SSH) over TCP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Service attacked; basis for a Snort rule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Timestamp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 hh:mm:ss ] first failure, threshold alert, successful login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Builds the timeline; time attacker had access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Wazuh rule ID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5710 / 5760 / 5763, 5715, 5402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Event type and MITRE mapping (T1110)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Snort SID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1:1000001 (ICMP only); no SID for SSH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What the sensor saw, and the detection gap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Fifteen alerts classified into five severity levels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54864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Level card 81"/>
          <p:cNvSpPr/>
          <p:nvPr/>
        </p:nvSpPr>
        <p:spPr>
          <a:xfrm>
            <a:off x="6309360" y="1325880"/>
            <a:ext cx="5330952" cy="88696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Level tag 82"/>
          <p:cNvSpPr txBox="1"/>
          <p:nvPr/>
        </p:nvSpPr>
        <p:spPr>
          <a:xfrm>
            <a:off x="6400800" y="1453896"/>
            <a:ext cx="1417320" cy="630936"/>
          </a:xfrm>
          <a:prstGeom prst="roundRect">
            <a:avLst>
              <a:gd name="adj" fmla="val 11594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Informational</a:t>
            </a:r>
            <a:endParaRPr lang="en-US" sz="1200" dirty="0"/>
          </a:p>
        </p:txBody>
      </p:sp>
      <p:sp>
        <p:nvSpPr>
          <p:cNvPr id="7" name="Text 83"/>
          <p:cNvSpPr txBox="1"/>
          <p:nvPr/>
        </p:nvSpPr>
        <p:spPr>
          <a:xfrm>
            <a:off x="7955280" y="1325880"/>
            <a:ext cx="36118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 action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System restart; agent reconnected</a:t>
            </a:r>
            <a:endParaRPr lang="en-US" sz="1300" dirty="0"/>
          </a:p>
        </p:txBody>
      </p:sp>
      <p:sp>
        <p:nvSpPr>
          <p:cNvPr id="8" name="Level card 84"/>
          <p:cNvSpPr/>
          <p:nvPr/>
        </p:nvSpPr>
        <p:spPr>
          <a:xfrm>
            <a:off x="6309360" y="2304288"/>
            <a:ext cx="5330952" cy="88696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Level tag 85"/>
          <p:cNvSpPr txBox="1"/>
          <p:nvPr/>
        </p:nvSpPr>
        <p:spPr>
          <a:xfrm>
            <a:off x="6400800" y="2432304"/>
            <a:ext cx="1417320" cy="630936"/>
          </a:xfrm>
          <a:prstGeom prst="roundRect">
            <a:avLst>
              <a:gd name="adj" fmla="val 11594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Low</a:t>
            </a:r>
            <a:endParaRPr lang="en-US" sz="1200" dirty="0"/>
          </a:p>
        </p:txBody>
      </p:sp>
      <p:sp>
        <p:nvSpPr>
          <p:cNvPr id="10" name="Text 86"/>
          <p:cNvSpPr txBox="1"/>
          <p:nvPr/>
        </p:nvSpPr>
        <p:spPr>
          <a:xfrm>
            <a:off x="7955280" y="2304288"/>
            <a:ext cx="36118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Routine, log only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Ping/ICMP (1:1000001); agent disconnected</a:t>
            </a:r>
            <a:endParaRPr lang="en-US" sz="1300" dirty="0"/>
          </a:p>
        </p:txBody>
      </p:sp>
      <p:sp>
        <p:nvSpPr>
          <p:cNvPr id="11" name="Level card 87"/>
          <p:cNvSpPr/>
          <p:nvPr/>
        </p:nvSpPr>
        <p:spPr>
          <a:xfrm>
            <a:off x="6309360" y="3282696"/>
            <a:ext cx="5330952" cy="88696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Level tag 88"/>
          <p:cNvSpPr txBox="1"/>
          <p:nvPr/>
        </p:nvSpPr>
        <p:spPr>
          <a:xfrm>
            <a:off x="6400800" y="3410712"/>
            <a:ext cx="1417320" cy="630936"/>
          </a:xfrm>
          <a:prstGeom prst="roundRect">
            <a:avLst>
              <a:gd name="adj" fmla="val 11594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Medium</a:t>
            </a:r>
            <a:endParaRPr lang="en-US" sz="1200" dirty="0"/>
          </a:p>
        </p:txBody>
      </p:sp>
      <p:sp>
        <p:nvSpPr>
          <p:cNvPr id="13" name="Text 89"/>
          <p:cNvSpPr txBox="1"/>
          <p:nvPr/>
        </p:nvSpPr>
        <p:spPr>
          <a:xfrm>
            <a:off x="7955280" y="3282696"/>
            <a:ext cx="36118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Investigate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Port scan; failed sudo; config file changed; unknown-domain DNS; new user created</a:t>
            </a:r>
            <a:endParaRPr lang="en-US" sz="1300" dirty="0"/>
          </a:p>
        </p:txBody>
      </p:sp>
      <p:sp>
        <p:nvSpPr>
          <p:cNvPr id="14" name="Level card 90"/>
          <p:cNvSpPr/>
          <p:nvPr/>
        </p:nvSpPr>
        <p:spPr>
          <a:xfrm>
            <a:off x="6309360" y="4261104"/>
            <a:ext cx="5330952" cy="88696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Level tag 91"/>
          <p:cNvSpPr txBox="1"/>
          <p:nvPr/>
        </p:nvSpPr>
        <p:spPr>
          <a:xfrm>
            <a:off x="6400800" y="4389120"/>
            <a:ext cx="1417320" cy="630936"/>
          </a:xfrm>
          <a:prstGeom prst="roundRect">
            <a:avLst>
              <a:gd name="adj" fmla="val 1159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High</a:t>
            </a:r>
            <a:endParaRPr lang="en-US" sz="1200" dirty="0"/>
          </a:p>
        </p:txBody>
      </p:sp>
      <p:sp>
        <p:nvSpPr>
          <p:cNvPr id="16" name="Text 92"/>
          <p:cNvSpPr txBox="1"/>
          <p:nvPr/>
        </p:nvSpPr>
        <p:spPr>
          <a:xfrm>
            <a:off x="7955280" y="4261104"/>
            <a:ext cx="36118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Respond now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Failed-login bursts (5710/5760); SSH brute force (5763); login after failures; /etc/passwd changed</a:t>
            </a:r>
            <a:endParaRPr lang="en-US" sz="1300" dirty="0"/>
          </a:p>
        </p:txBody>
      </p:sp>
      <p:sp>
        <p:nvSpPr>
          <p:cNvPr id="17" name="Level card 93"/>
          <p:cNvSpPr/>
          <p:nvPr/>
        </p:nvSpPr>
        <p:spPr>
          <a:xfrm>
            <a:off x="6309360" y="5239512"/>
            <a:ext cx="5330952" cy="88696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Level tag 94"/>
          <p:cNvSpPr txBox="1"/>
          <p:nvPr/>
        </p:nvSpPr>
        <p:spPr>
          <a:xfrm>
            <a:off x="6400800" y="5367528"/>
            <a:ext cx="1417320" cy="630936"/>
          </a:xfrm>
          <a:prstGeom prst="roundRect">
            <a:avLst>
              <a:gd name="adj" fmla="val 11594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Critical</a:t>
            </a:r>
            <a:endParaRPr lang="en-US" sz="1200" dirty="0"/>
          </a:p>
        </p:txBody>
      </p:sp>
      <p:sp>
        <p:nvSpPr>
          <p:cNvPr id="19" name="Text 95"/>
          <p:cNvSpPr txBox="1"/>
          <p:nvPr/>
        </p:nvSpPr>
        <p:spPr>
          <a:xfrm>
            <a:off x="7955280" y="5239512"/>
            <a:ext cx="36118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Immediate response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Malware detected; connection to known C2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Incident response and ticket DG-SOC-001</a:t>
            </a:r>
            <a:endParaRPr lang="en-US" sz="3200" dirty="0"/>
          </a:p>
        </p:txBody>
      </p:sp>
      <p:sp>
        <p:nvSpPr>
          <p:cNvPr id="4" name="Stage row 96"/>
          <p:cNvSpPr/>
          <p:nvPr/>
        </p:nvSpPr>
        <p:spPr>
          <a:xfrm>
            <a:off x="548640" y="1325880"/>
            <a:ext cx="6035040" cy="6309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Number 97"/>
          <p:cNvSpPr txBox="1"/>
          <p:nvPr/>
        </p:nvSpPr>
        <p:spPr>
          <a:xfrm>
            <a:off x="658368" y="1417320"/>
            <a:ext cx="438912" cy="438912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98"/>
          <p:cNvSpPr txBox="1"/>
          <p:nvPr/>
        </p:nvSpPr>
        <p:spPr>
          <a:xfrm>
            <a:off x="1234440" y="1325880"/>
            <a:ext cx="5257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Preparation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Roles, Wazuh agents, Snort, asset list, playbooks</a:t>
            </a:r>
            <a:endParaRPr lang="en-US" sz="1300" dirty="0"/>
          </a:p>
        </p:txBody>
      </p:sp>
      <p:sp>
        <p:nvSpPr>
          <p:cNvPr id="7" name="Stage row 99"/>
          <p:cNvSpPr/>
          <p:nvPr/>
        </p:nvSpPr>
        <p:spPr>
          <a:xfrm>
            <a:off x="548640" y="2029968"/>
            <a:ext cx="6035040" cy="6309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Number 100"/>
          <p:cNvSpPr txBox="1"/>
          <p:nvPr/>
        </p:nvSpPr>
        <p:spPr>
          <a:xfrm>
            <a:off x="658368" y="2121408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101"/>
          <p:cNvSpPr txBox="1"/>
          <p:nvPr/>
        </p:nvSpPr>
        <p:spPr>
          <a:xfrm>
            <a:off x="1234440" y="2029968"/>
            <a:ext cx="5257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Identification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Rule 5763 alert; pivot on source IP found 5715 and 5402; Snort silent</a:t>
            </a:r>
            <a:endParaRPr lang="en-US" sz="1300" dirty="0"/>
          </a:p>
        </p:txBody>
      </p:sp>
      <p:sp>
        <p:nvSpPr>
          <p:cNvPr id="10" name="Stage row 102"/>
          <p:cNvSpPr/>
          <p:nvPr/>
        </p:nvSpPr>
        <p:spPr>
          <a:xfrm>
            <a:off x="548640" y="2734056"/>
            <a:ext cx="6035040" cy="6309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Number 103"/>
          <p:cNvSpPr txBox="1"/>
          <p:nvPr/>
        </p:nvSpPr>
        <p:spPr>
          <a:xfrm>
            <a:off x="658368" y="2825496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4"/>
          <p:cNvSpPr txBox="1"/>
          <p:nvPr/>
        </p:nvSpPr>
        <p:spPr>
          <a:xfrm>
            <a:off x="1234440" y="2734056"/>
            <a:ext cx="5257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Analysis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Alert JSON, raw auth.log, timeline, FIM results, IOC list</a:t>
            </a:r>
            <a:endParaRPr lang="en-US" sz="1300" dirty="0"/>
          </a:p>
        </p:txBody>
      </p:sp>
      <p:sp>
        <p:nvSpPr>
          <p:cNvPr id="13" name="Stage row 105"/>
          <p:cNvSpPr/>
          <p:nvPr/>
        </p:nvSpPr>
        <p:spPr>
          <a:xfrm>
            <a:off x="548640" y="3438144"/>
            <a:ext cx="6035040" cy="6309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Number 106"/>
          <p:cNvSpPr txBox="1"/>
          <p:nvPr/>
        </p:nvSpPr>
        <p:spPr>
          <a:xfrm>
            <a:off x="658368" y="3529584"/>
            <a:ext cx="438912" cy="43891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07"/>
          <p:cNvSpPr txBox="1"/>
          <p:nvPr/>
        </p:nvSpPr>
        <p:spPr>
          <a:xfrm>
            <a:off x="1234440" y="3438144"/>
            <a:ext cx="5257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Containment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Preserve evidence; block source IP; lock account, end sessions</a:t>
            </a:r>
            <a:endParaRPr lang="en-US" sz="1300" dirty="0"/>
          </a:p>
        </p:txBody>
      </p:sp>
      <p:sp>
        <p:nvSpPr>
          <p:cNvPr id="16" name="Stage row 108"/>
          <p:cNvSpPr/>
          <p:nvPr/>
        </p:nvSpPr>
        <p:spPr>
          <a:xfrm>
            <a:off x="548640" y="4142232"/>
            <a:ext cx="6035040" cy="6309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Number 109"/>
          <p:cNvSpPr txBox="1"/>
          <p:nvPr/>
        </p:nvSpPr>
        <p:spPr>
          <a:xfrm>
            <a:off x="658368" y="4233672"/>
            <a:ext cx="438912" cy="438912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10"/>
          <p:cNvSpPr txBox="1"/>
          <p:nvPr/>
        </p:nvSpPr>
        <p:spPr>
          <a:xfrm>
            <a:off x="1234440" y="4142232"/>
            <a:ext cx="5257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Eradication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Reset passwords; check passwd, sudoers.d, authorized_keys; fix SSH exposure</a:t>
            </a:r>
            <a:endParaRPr lang="en-US" sz="1300" dirty="0"/>
          </a:p>
        </p:txBody>
      </p:sp>
      <p:sp>
        <p:nvSpPr>
          <p:cNvPr id="19" name="Stage row 111"/>
          <p:cNvSpPr/>
          <p:nvPr/>
        </p:nvSpPr>
        <p:spPr>
          <a:xfrm>
            <a:off x="548640" y="4846320"/>
            <a:ext cx="6035040" cy="6309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Number 112"/>
          <p:cNvSpPr txBox="1"/>
          <p:nvPr/>
        </p:nvSpPr>
        <p:spPr>
          <a:xfrm>
            <a:off x="658368" y="4937760"/>
            <a:ext cx="438912" cy="438912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13"/>
          <p:cNvSpPr txBox="1"/>
          <p:nvPr/>
        </p:nvSpPr>
        <p:spPr>
          <a:xfrm>
            <a:off x="1234440" y="4846320"/>
            <a:ext cx="5257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Recovery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Snapshot if files changed; key-only SSH, no root login, fail2ban, MFA</a:t>
            </a:r>
            <a:endParaRPr lang="en-US" sz="1300" dirty="0"/>
          </a:p>
        </p:txBody>
      </p:sp>
      <p:sp>
        <p:nvSpPr>
          <p:cNvPr id="22" name="Stage row 114"/>
          <p:cNvSpPr/>
          <p:nvPr/>
        </p:nvSpPr>
        <p:spPr>
          <a:xfrm>
            <a:off x="548640" y="5550408"/>
            <a:ext cx="6035040" cy="6309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Number 115"/>
          <p:cNvSpPr txBox="1"/>
          <p:nvPr/>
        </p:nvSpPr>
        <p:spPr>
          <a:xfrm>
            <a:off x="658368" y="5641848"/>
            <a:ext cx="438912" cy="43891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4" name="Text 116"/>
          <p:cNvSpPr txBox="1"/>
          <p:nvPr/>
        </p:nvSpPr>
        <p:spPr>
          <a:xfrm>
            <a:off x="1234440" y="5550408"/>
            <a:ext cx="5257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Lessons learned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Snort SSH rule; test active response; tune thresholds; update playbooks</a:t>
            </a:r>
            <a:endParaRPr lang="en-US" sz="1300" dirty="0"/>
          </a:p>
        </p:txBody>
      </p:sp>
      <p:graphicFrame>
        <p:nvGraphicFramePr>
          <p:cNvPr id="11" name="Table 1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325880"/>
          <a:ext cx="478231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478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Incident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DG-SOC-001: Multiple Failed Logins Followed by Successful Login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Severity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Affected / source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Ubuntu endpoint (agent) / Kali 192.168.56.1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Account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root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Detection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Wazuh 5710 / 5763; Snort: no related alert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IOC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Source IP; root; 22/TCP; rules 5710, 5763, 5715; SID 1:1000001 (ICMP)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Action taken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Blocked source IP, reset credentials, increased monitoring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Investigating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Recommend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MFA, stronger passwords, SSH detection in Snort, monitor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alert response playbooks</a:t>
            </a:r>
            <a:endParaRPr lang="en-US" sz="3200" dirty="0"/>
          </a:p>
        </p:txBody>
      </p:sp>
      <p:sp>
        <p:nvSpPr>
          <p:cNvPr id="4" name="Playbook card 118"/>
          <p:cNvSpPr/>
          <p:nvPr/>
        </p:nvSpPr>
        <p:spPr>
          <a:xfrm>
            <a:off x="548640" y="1325880"/>
            <a:ext cx="3593592" cy="4846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Playbook header 119"/>
          <p:cNvSpPr/>
          <p:nvPr/>
        </p:nvSpPr>
        <p:spPr>
          <a:xfrm>
            <a:off x="548640" y="1325880"/>
            <a:ext cx="3593592" cy="6400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Text 120"/>
          <p:cNvSpPr txBox="1"/>
          <p:nvPr/>
        </p:nvSpPr>
        <p:spPr>
          <a:xfrm>
            <a:off x="731520" y="13258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failed logins</a:t>
            </a:r>
            <a:endParaRPr lang="en-US" sz="1700" dirty="0"/>
          </a:p>
        </p:txBody>
      </p:sp>
      <p:sp>
        <p:nvSpPr>
          <p:cNvPr id="7" name="Text 121"/>
          <p:cNvSpPr txBox="1"/>
          <p:nvPr/>
        </p:nvSpPr>
        <p:spPr>
          <a:xfrm>
            <a:off x="731520" y="21945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Detect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Rules 5710 / 5760 / 5763 for one source or account</a:t>
            </a:r>
            <a:endParaRPr lang="en-US" sz="1400" dirty="0"/>
          </a:p>
        </p:txBody>
      </p:sp>
      <p:sp>
        <p:nvSpPr>
          <p:cNvPr id="8" name="Text 122"/>
          <p:cNvSpPr txBox="1"/>
          <p:nvPr/>
        </p:nvSpPr>
        <p:spPr>
          <a:xfrm>
            <a:off x="731520" y="318211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Verify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Did a success (5715) follow? Confirm with the owner; check threat intel</a:t>
            </a:r>
            <a:endParaRPr lang="en-US" sz="1400" dirty="0"/>
          </a:p>
        </p:txBody>
      </p:sp>
      <p:sp>
        <p:nvSpPr>
          <p:cNvPr id="9" name="Text 123"/>
          <p:cNvSpPr txBox="1"/>
          <p:nvPr/>
        </p:nvSpPr>
        <p:spPr>
          <a:xfrm>
            <a:off x="731520" y="4169664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Contain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Block IP, lock or reset account, end sessions, keep evidence</a:t>
            </a:r>
            <a:endParaRPr lang="en-US" sz="1400" dirty="0"/>
          </a:p>
        </p:txBody>
      </p:sp>
      <p:sp>
        <p:nvSpPr>
          <p:cNvPr id="10" name="Text 124"/>
          <p:cNvSpPr txBox="1"/>
          <p:nvPr/>
        </p:nvSpPr>
        <p:spPr>
          <a:xfrm>
            <a:off x="731520" y="5157216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Escalate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 L2 if success followed, privileged account, or external source</a:t>
            </a:r>
            <a:endParaRPr lang="en-US" sz="1400" dirty="0"/>
          </a:p>
        </p:txBody>
      </p:sp>
      <p:sp>
        <p:nvSpPr>
          <p:cNvPr id="11" name="Playbook card 125"/>
          <p:cNvSpPr/>
          <p:nvPr/>
        </p:nvSpPr>
        <p:spPr>
          <a:xfrm>
            <a:off x="4297680" y="1325880"/>
            <a:ext cx="3593592" cy="4846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Playbook header 126"/>
          <p:cNvSpPr/>
          <p:nvPr/>
        </p:nvSpPr>
        <p:spPr>
          <a:xfrm>
            <a:off x="4297680" y="1325880"/>
            <a:ext cx="3593592" cy="640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Text 127"/>
          <p:cNvSpPr txBox="1"/>
          <p:nvPr/>
        </p:nvSpPr>
        <p:spPr>
          <a:xfrm>
            <a:off x="4480560" y="13258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scan</a:t>
            </a:r>
            <a:endParaRPr lang="en-US" sz="1700" dirty="0"/>
          </a:p>
        </p:txBody>
      </p:sp>
      <p:sp>
        <p:nvSpPr>
          <p:cNvPr id="14" name="Text 128"/>
          <p:cNvSpPr txBox="1"/>
          <p:nvPr/>
        </p:nvSpPr>
        <p:spPr>
          <a:xfrm>
            <a:off x="4480560" y="21945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Detect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Snort or firewall log: many ports in a short time</a:t>
            </a:r>
            <a:endParaRPr lang="en-US" sz="1400" dirty="0"/>
          </a:p>
        </p:txBody>
      </p:sp>
      <p:sp>
        <p:nvSpPr>
          <p:cNvPr id="15" name="Text 129"/>
          <p:cNvSpPr txBox="1"/>
          <p:nvPr/>
        </p:nvSpPr>
        <p:spPr>
          <a:xfrm>
            <a:off x="4480560" y="318211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Verify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with the approved scan schedule and asset list</a:t>
            </a:r>
            <a:endParaRPr lang="en-US" sz="1400" dirty="0"/>
          </a:p>
        </p:txBody>
      </p:sp>
      <p:sp>
        <p:nvSpPr>
          <p:cNvPr id="16" name="Text 130"/>
          <p:cNvSpPr txBox="1"/>
          <p:nvPr/>
        </p:nvSpPr>
        <p:spPr>
          <a:xfrm>
            <a:off x="4480560" y="4169664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Investigate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Follow-up logins, file changes or exploit attempts from the same IP</a:t>
            </a:r>
            <a:endParaRPr lang="en-US" sz="1400" dirty="0"/>
          </a:p>
        </p:txBody>
      </p:sp>
      <p:sp>
        <p:nvSpPr>
          <p:cNvPr id="17" name="Text 131"/>
          <p:cNvSpPr txBox="1"/>
          <p:nvPr/>
        </p:nvSpPr>
        <p:spPr>
          <a:xfrm>
            <a:off x="4480560" y="5157216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Respond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Authorised: close. Else block, close ports, escalate on exploitation</a:t>
            </a:r>
            <a:endParaRPr lang="en-US" sz="1400" dirty="0"/>
          </a:p>
        </p:txBody>
      </p:sp>
      <p:sp>
        <p:nvSpPr>
          <p:cNvPr id="18" name="Playbook card 132"/>
          <p:cNvSpPr/>
          <p:nvPr/>
        </p:nvSpPr>
        <p:spPr>
          <a:xfrm>
            <a:off x="8046720" y="1325880"/>
            <a:ext cx="3593592" cy="4846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Playbook header 133"/>
          <p:cNvSpPr/>
          <p:nvPr/>
        </p:nvSpPr>
        <p:spPr>
          <a:xfrm>
            <a:off x="8046720" y="1325880"/>
            <a:ext cx="3593592" cy="64008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0" name="Text 134"/>
          <p:cNvSpPr txBox="1"/>
          <p:nvPr/>
        </p:nvSpPr>
        <p:spPr>
          <a:xfrm>
            <a:off x="8229600" y="13258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Suspicious file / system change</a:t>
            </a:r>
            <a:endParaRPr lang="en-US" sz="1700" dirty="0"/>
          </a:p>
        </p:txBody>
      </p:sp>
      <p:sp>
        <p:nvSpPr>
          <p:cNvPr id="21" name="Text 135"/>
          <p:cNvSpPr txBox="1"/>
          <p:nvPr/>
        </p:nvSpPr>
        <p:spPr>
          <a:xfrm>
            <a:off x="8229600" y="21945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Detect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Wazuh FIM rules 550 / 553 / 554 or config-change alert</a:t>
            </a:r>
            <a:endParaRPr lang="en-US" sz="1400" dirty="0"/>
          </a:p>
        </p:txBody>
      </p:sp>
      <p:sp>
        <p:nvSpPr>
          <p:cNvPr id="22" name="Text 136"/>
          <p:cNvSpPr txBox="1"/>
          <p:nvPr/>
        </p:nvSpPr>
        <p:spPr>
          <a:xfrm>
            <a:off x="8229600" y="318211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Identify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Path, old and new hash, owner, time; which user and process</a:t>
            </a:r>
            <a:endParaRPr lang="en-US" sz="1400" dirty="0"/>
          </a:p>
        </p:txBody>
      </p:sp>
      <p:sp>
        <p:nvSpPr>
          <p:cNvPr id="23" name="Text 137"/>
          <p:cNvSpPr txBox="1"/>
          <p:nvPr/>
        </p:nvSpPr>
        <p:spPr>
          <a:xfrm>
            <a:off x="8229600" y="4169664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Investigate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Related alerts, scan the file, check persistence</a:t>
            </a:r>
            <a:endParaRPr lang="en-US" sz="1400" dirty="0"/>
          </a:p>
        </p:txBody>
      </p:sp>
      <p:sp>
        <p:nvSpPr>
          <p:cNvPr id="24" name="Text 138"/>
          <p:cNvSpPr txBox="1"/>
          <p:nvPr/>
        </p:nvSpPr>
        <p:spPr>
          <a:xfrm>
            <a:off x="8229600" y="5157216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Respond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Authorised: close. Else preserve copy, restore, remove persistence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Findings, recommendations and conclusion</a:t>
            </a:r>
            <a:endParaRPr lang="en-US" sz="3200" dirty="0"/>
          </a:p>
        </p:txBody>
      </p:sp>
      <p:sp>
        <p:nvSpPr>
          <p:cNvPr id="4" name="Findings 139"/>
          <p:cNvSpPr/>
          <p:nvPr/>
        </p:nvSpPr>
        <p:spPr>
          <a:xfrm>
            <a:off x="548640" y="1325880"/>
            <a:ext cx="5440680" cy="3429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140"/>
          <p:cNvSpPr txBox="1"/>
          <p:nvPr/>
        </p:nvSpPr>
        <p:spPr>
          <a:xfrm>
            <a:off x="822960" y="1508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FINDINGS</a:t>
            </a:r>
            <a:endParaRPr lang="en-US" sz="1200" dirty="0"/>
          </a:p>
        </p:txBody>
      </p:sp>
      <p:sp>
        <p:nvSpPr>
          <p:cNvPr id="6" name="Text 141"/>
          <p:cNvSpPr txBox="1"/>
          <p:nvPr/>
        </p:nvSpPr>
        <p:spPr>
          <a:xfrm>
            <a:off x="822960" y="18745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Snort saw ICMP; Wazuh saw SSH failures, success and sudo use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Snort alert for SSH guessing: the Week 9 rules cover only ICMP and HTTP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 5763 and a pivot on the source IP turned low-value alerts into an incident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successful login after a failure burst raised it to High</a:t>
            </a:r>
            <a:endParaRPr lang="en-US" sz="1400" dirty="0"/>
          </a:p>
        </p:txBody>
      </p:sp>
      <p:sp>
        <p:nvSpPr>
          <p:cNvPr id="7" name="Recommendations 142"/>
          <p:cNvSpPr/>
          <p:nvPr/>
        </p:nvSpPr>
        <p:spPr>
          <a:xfrm>
            <a:off x="6199632" y="1325880"/>
            <a:ext cx="5440680" cy="3429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143"/>
          <p:cNvSpPr txBox="1"/>
          <p:nvPr/>
        </p:nvSpPr>
        <p:spPr>
          <a:xfrm>
            <a:off x="6473952" y="1508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9" name="Text 144"/>
          <p:cNvSpPr txBox="1"/>
          <p:nvPr/>
        </p:nvSpPr>
        <p:spPr>
          <a:xfrm>
            <a:off x="6473952" y="18745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a Snort rule with a threshold for repeated connections to port 22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Enable MFA and key-only SSH; disable direct root login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Wazuh active response to block repeated-failure sources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Tune noisy rules; keep the asset list and playbooks current</a:t>
            </a:r>
            <a:endParaRPr lang="en-US" sz="1400" dirty="0"/>
          </a:p>
        </p:txBody>
      </p:sp>
      <p:sp>
        <p:nvSpPr>
          <p:cNvPr id="10" name="Conclusion 145"/>
          <p:cNvSpPr/>
          <p:nvPr/>
        </p:nvSpPr>
        <p:spPr>
          <a:xfrm>
            <a:off x="548640" y="4983480"/>
            <a:ext cx="11091672" cy="12344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1" name="Text 146"/>
          <p:cNvSpPr txBox="1"/>
          <p:nvPr/>
        </p:nvSpPr>
        <p:spPr>
          <a:xfrm>
            <a:off x="868680" y="498348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tool or alert tells the whole story.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across network and host evidence, verified before escalation and documented clearly, is what makes a SOC investigation reliable.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G SOC Week 11">
  <a:themeElements>
    <a:clrScheme name="DG SOC Week 11">
      <a:dk1>
        <a:srgbClr val="0F1B2D"/>
      </a:dk1>
      <a:lt1>
        <a:srgbClr val="FFFFFF"/>
      </a:lt1>
      <a:dk2>
        <a:srgbClr val="1D3557"/>
      </a:dk2>
      <a:lt2>
        <a:srgbClr val="EEF3F7"/>
      </a:lt2>
      <a:accent1>
        <a:srgbClr val="0E8F9B"/>
      </a:accent1>
      <a:accent2>
        <a:srgbClr val="F59E0B"/>
      </a:accent2>
      <a:accent3>
        <a:srgbClr val="C93C3C"/>
      </a:accent3>
      <a:accent4>
        <a:srgbClr val="2F7D4F"/>
      </a:accent4>
      <a:accent5>
        <a:srgbClr val="6B5CA5"/>
      </a:accent5>
      <a:accent6>
        <a:srgbClr val="64748B"/>
      </a:accent6>
      <a:hlink>
        <a:srgbClr val="0E8F9B"/>
      </a:hlink>
      <a:folHlink>
        <a:srgbClr val="64748B"/>
      </a:folHlink>
    </a:clrScheme>
    <a:fontScheme name="DG SOC Week 1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DG Interns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 — SOC Threat Detection, Alert Correlation &amp; Incident Response</dc:title>
  <dc:subject>PptxGenJS Presentation</dc:subject>
  <dc:creator>Md Mohtasim</dc:creator>
  <cp:lastModifiedBy>Md Mohtasim</cp:lastModifiedBy>
  <cp:revision>1</cp:revision>
  <dcterms:created xsi:type="dcterms:W3CDTF">2026-10-20T16:31:45Z</dcterms:created>
  <dcterms:modified xsi:type="dcterms:W3CDTF">2026-10-20T16:31:45Z</dcterms:modified>
</cp:coreProperties>
</file>